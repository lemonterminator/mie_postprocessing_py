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/>
      </a:lvl1pPr>
    </p:titleStyle>
    <p:bodyStyle>
      <a:lvl1pPr algn="l">
        <a:defRPr sz="2000"/>
      </a:lvl1pPr>
    </p:bodyStyle>
    <p:otherStyle>
      <a:lvl1pPr algn="l"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3400" b="1" dirty="0">
                <a:solidFill>
                  <a:srgbClr val="0F172A"/>
                </a:solidFill>
                <a:latin typeface="Arial"/>
              </a:rPr>
              <a:t>Q1 Fit Diagnostics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30352" y="1115568"/>
            <a:ext cx="10424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475569"/>
                </a:solidFill>
                <a:latin typeface="Arial"/>
              </a:rPr>
              <a:t>Spray penetration curve-fit quality, translated for mechanical engineering review</a:t>
            </a:r>
            <a:endParaRPr lang="en-US" sz="1800"/>
          </a:p>
        </p:txBody>
      </p:sp>
      <p:sp>
        <p:nvSpPr>
          <p:cNvPr id="5" name="Box 5"/>
          <p:cNvSpPr txBox="1"/>
          <p:nvPr/>
        </p:nvSpPr>
        <p:spPr>
          <a:xfrm>
            <a:off x="502920" y="1783080"/>
            <a:ext cx="11155680" cy="749808"/>
          </a:xfrm>
          <a:prstGeom prst="rect">
            <a:avLst/>
          </a:prstGeom>
          <a:solidFill>
            <a:srgbClr val="EFF6FF"/>
          </a:solidFill>
          <a:ln w="8000">
            <a:solidFill>
              <a:srgbClr val="BFDBF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13232" y="1911096"/>
            <a:ext cx="10652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Main message: the clean CDF fits are generally usable for synthetic data generation. Median RMSE is 1.25 mm and median R2 is 0.9969.</a:t>
            </a:r>
            <a:endParaRPr lang="en-US" sz="1800"/>
          </a:p>
        </p:txBody>
      </p:sp>
      <p:sp>
        <p:nvSpPr>
          <p:cNvPr id="7" name="Box 7"/>
          <p:cNvSpPr txBox="1"/>
          <p:nvPr/>
        </p:nvSpPr>
        <p:spPr>
          <a:xfrm>
            <a:off x="59436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5895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23,008</a:t>
            </a:r>
            <a:endParaRPr lang="en-US" sz="2300"/>
          </a:p>
        </p:txBody>
      </p:sp>
      <p:sp>
        <p:nvSpPr>
          <p:cNvPr id="9" name="Text 9"/>
          <p:cNvSpPr txBox="1"/>
          <p:nvPr/>
        </p:nvSpPr>
        <p:spPr>
          <a:xfrm>
            <a:off x="75895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candidate CDF plume traces</a:t>
            </a:r>
            <a:endParaRPr lang="en-US" sz="1000"/>
          </a:p>
        </p:txBody>
      </p:sp>
      <p:sp>
        <p:nvSpPr>
          <p:cNvPr id="10" name="Box 10"/>
          <p:cNvSpPr txBox="1"/>
          <p:nvPr/>
        </p:nvSpPr>
        <p:spPr>
          <a:xfrm>
            <a:off x="292608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09067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20,998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309067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accepted fits (91.3%)</a:t>
            </a:r>
            <a:endParaRPr lang="en-US" sz="1000"/>
          </a:p>
        </p:txBody>
      </p:sp>
      <p:sp>
        <p:nvSpPr>
          <p:cNvPr id="13" name="Box 13"/>
          <p:cNvSpPr txBox="1"/>
          <p:nvPr/>
        </p:nvSpPr>
        <p:spPr>
          <a:xfrm>
            <a:off x="525780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42239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1.25</a:t>
            </a:r>
            <a:endParaRPr lang="en-US" sz="2300"/>
          </a:p>
        </p:txBody>
      </p:sp>
      <p:sp>
        <p:nvSpPr>
          <p:cNvPr id="15" name="Text 15"/>
          <p:cNvSpPr txBox="1"/>
          <p:nvPr/>
        </p:nvSpPr>
        <p:spPr>
          <a:xfrm>
            <a:off x="542239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median RMSE [mm]</a:t>
            </a:r>
            <a:endParaRPr lang="en-US" sz="1000"/>
          </a:p>
        </p:txBody>
      </p:sp>
      <p:sp>
        <p:nvSpPr>
          <p:cNvPr id="16" name="Box 16"/>
          <p:cNvSpPr txBox="1"/>
          <p:nvPr/>
        </p:nvSpPr>
        <p:spPr>
          <a:xfrm>
            <a:off x="758952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75411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DC2626"/>
                </a:solidFill>
                <a:latin typeface="Arial"/>
              </a:rPr>
              <a:t>2.56</a:t>
            </a:r>
            <a:endParaRPr lang="en-US" sz="2300"/>
          </a:p>
        </p:txBody>
      </p:sp>
      <p:sp>
        <p:nvSpPr>
          <p:cNvPr id="18" name="Text 18"/>
          <p:cNvSpPr txBox="1"/>
          <p:nvPr/>
        </p:nvSpPr>
        <p:spPr>
          <a:xfrm>
            <a:off x="775411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95th percentile RMSE [mm]</a:t>
            </a:r>
            <a:endParaRPr lang="en-US" sz="1000"/>
          </a:p>
        </p:txBody>
      </p:sp>
      <p:sp>
        <p:nvSpPr>
          <p:cNvPr id="19" name="Box 19"/>
          <p:cNvSpPr txBox="1"/>
          <p:nvPr/>
        </p:nvSpPr>
        <p:spPr>
          <a:xfrm>
            <a:off x="9921240" y="2880360"/>
            <a:ext cx="17373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10085832" y="2999232"/>
            <a:ext cx="1408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059669"/>
                </a:solidFill>
                <a:latin typeface="Arial"/>
              </a:rPr>
              <a:t>90.0%</a:t>
            </a:r>
            <a:endParaRPr lang="en-US" sz="2300"/>
          </a:p>
        </p:txBody>
      </p:sp>
      <p:sp>
        <p:nvSpPr>
          <p:cNvPr id="21" name="Text 21"/>
          <p:cNvSpPr txBox="1"/>
          <p:nvPr/>
        </p:nvSpPr>
        <p:spPr>
          <a:xfrm>
            <a:off x="10085832" y="3364992"/>
            <a:ext cx="14081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and RMSE &lt; 3 mm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594360" y="425196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What is being checked: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Does the simplified curve follow measured spray penetration closely enough?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Do the fitted constants move in physically sensible directions with pressure and nozzle geometry?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Are optimization failures or parameter ambiguity likely to contaminate the exported data?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From Video Measurements To Diagnostics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56692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3152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1. Raw plume series</a:t>
            </a:r>
            <a:endParaRPr lang="en-US" sz="1700"/>
          </a:p>
        </p:txBody>
      </p:sp>
      <p:sp>
        <p:nvSpPr>
          <p:cNvPr id="8" name="Text 8"/>
          <p:cNvSpPr txBox="1"/>
          <p:nvPr/>
        </p:nvSpPr>
        <p:spPr>
          <a:xfrm>
            <a:off x="73152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Penetration in mm vs time for each plume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3977640" y="14904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10" name="Box 10"/>
          <p:cNvSpPr txBox="1"/>
          <p:nvPr/>
        </p:nvSpPr>
        <p:spPr>
          <a:xfrm>
            <a:off x="440740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57200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2. Clean and align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457200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Remove early zeros, bad jumps, negative values, and align onset</a:t>
            </a:r>
            <a:endParaRPr lang="en-US" sz="1200"/>
          </a:p>
        </p:txBody>
      </p:sp>
      <p:sp>
        <p:nvSpPr>
          <p:cNvPr id="13" name="Text 13"/>
          <p:cNvSpPr txBox="1"/>
          <p:nvPr/>
        </p:nvSpPr>
        <p:spPr>
          <a:xfrm>
            <a:off x="7818120" y="14904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14" name="Box 14"/>
          <p:cNvSpPr txBox="1"/>
          <p:nvPr/>
        </p:nvSpPr>
        <p:spPr>
          <a:xfrm>
            <a:off x="824788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41248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3. Fit q1 curve</a:t>
            </a:r>
            <a:endParaRPr lang="en-US" sz="1700"/>
          </a:p>
        </p:txBody>
      </p:sp>
      <p:sp>
        <p:nvSpPr>
          <p:cNvPr id="16" name="Text 16"/>
          <p:cNvSpPr txBox="1"/>
          <p:nvPr/>
        </p:nvSpPr>
        <p:spPr>
          <a:xfrm>
            <a:off x="841248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Least-squares fit of onset-ramped t^(1/4) penetration</a:t>
            </a:r>
            <a:endParaRPr lang="en-US" sz="1200"/>
          </a:p>
        </p:txBody>
      </p:sp>
      <p:sp>
        <p:nvSpPr>
          <p:cNvPr id="17" name="Box 17"/>
          <p:cNvSpPr txBox="1"/>
          <p:nvPr/>
        </p:nvSpPr>
        <p:spPr>
          <a:xfrm>
            <a:off x="56692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3152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4. Quality gates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73152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Keep plausible fits, reject outliers and weak traces</a:t>
            </a:r>
            <a:endParaRPr lang="en-US" sz="1200"/>
          </a:p>
        </p:txBody>
      </p:sp>
      <p:sp>
        <p:nvSpPr>
          <p:cNvPr id="20" name="Text 20"/>
          <p:cNvSpPr txBox="1"/>
          <p:nvPr/>
        </p:nvSpPr>
        <p:spPr>
          <a:xfrm>
            <a:off x="3977640" y="33192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21" name="Box 21"/>
          <p:cNvSpPr txBox="1"/>
          <p:nvPr/>
        </p:nvSpPr>
        <p:spPr>
          <a:xfrm>
            <a:off x="440740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57200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5. Aggregate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457200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Pool clean rows and per-frame residuals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7818120" y="33192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25" name="Box 25"/>
          <p:cNvSpPr txBox="1"/>
          <p:nvPr/>
        </p:nvSpPr>
        <p:spPr>
          <a:xfrm>
            <a:off x="824788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841248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6. Diagnose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841248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RMSE, residuals, convergence, parameter uncertainty</a:t>
            </a:r>
            <a:endParaRPr lang="en-US" sz="1200"/>
          </a:p>
        </p:txBody>
      </p:sp>
      <p:sp>
        <p:nvSpPr>
          <p:cNvPr id="28" name="Text 28"/>
          <p:cNvSpPr txBox="1"/>
          <p:nvPr/>
        </p:nvSpPr>
        <p:spPr>
          <a:xfrm>
            <a:off x="594360" y="4892040"/>
            <a:ext cx="10881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Code map: prepare_cleaned_series -&gt; fit_quarter_only -&gt; apply_filter_masking -&gt; fit_diagnostics.run_all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The Fitted Curve In Plain Terms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85800" y="987552"/>
            <a:ext cx="10972800" cy="96012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1170432"/>
            <a:ext cx="10561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S(t) = sigmoid((t - t0) / s) * k * t^(1/4)</a:t>
            </a:r>
            <a:endParaRPr lang="en-US" sz="2500"/>
          </a:p>
        </p:txBody>
      </p:sp>
      <p:sp>
        <p:nvSpPr>
          <p:cNvPr id="8" name="Text 8"/>
          <p:cNvSpPr txBox="1"/>
          <p:nvPr/>
        </p:nvSpPr>
        <p:spPr>
          <a:xfrm>
            <a:off x="914400" y="1618488"/>
            <a:ext cx="102412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The sigmoid is a smooth valve: before onset penetration is near zero, after onset the curve follows a quarter-root growth law.</a:t>
            </a:r>
            <a:endParaRPr lang="en-US" sz="1200"/>
          </a:p>
        </p:txBody>
      </p:sp>
      <p:sp>
        <p:nvSpPr>
          <p:cNvPr id="9" name="Box 9"/>
          <p:cNvSpPr txBox="1"/>
          <p:nvPr/>
        </p:nvSpPr>
        <p:spPr>
          <a:xfrm>
            <a:off x="7498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144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k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9144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growth scale. Median fitted k = 446 mm/s^(1/4)</a:t>
            </a:r>
            <a:endParaRPr lang="en-US" sz="1000"/>
          </a:p>
        </p:txBody>
      </p:sp>
      <p:sp>
        <p:nvSpPr>
          <p:cNvPr id="12" name="Box 12"/>
          <p:cNvSpPr txBox="1"/>
          <p:nvPr/>
        </p:nvSpPr>
        <p:spPr>
          <a:xfrm>
            <a:off x="44074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5720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t0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45720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onset time. Median = 0.309 ms</a:t>
            </a:r>
            <a:endParaRPr lang="en-US" sz="1000"/>
          </a:p>
        </p:txBody>
      </p:sp>
      <p:sp>
        <p:nvSpPr>
          <p:cNvPr id="15" name="Box 15"/>
          <p:cNvSpPr txBox="1"/>
          <p:nvPr/>
        </p:nvSpPr>
        <p:spPr>
          <a:xfrm>
            <a:off x="80650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2296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s</a:t>
            </a:r>
            <a:endParaRPr lang="en-US" sz="2300"/>
          </a:p>
        </p:txBody>
      </p:sp>
      <p:sp>
        <p:nvSpPr>
          <p:cNvPr id="17" name="Text 17"/>
          <p:cNvSpPr txBox="1"/>
          <p:nvPr/>
        </p:nvSpPr>
        <p:spPr>
          <a:xfrm>
            <a:off x="82296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transition width. Median = 0.146 ms</a:t>
            </a:r>
            <a:endParaRPr lang="en-US" sz="1000"/>
          </a:p>
        </p:txBody>
      </p:sp>
      <p:sp>
        <p:nvSpPr>
          <p:cNvPr id="18" name="Text 18"/>
          <p:cNvSpPr txBox="1"/>
          <p:nvPr/>
        </p:nvSpPr>
        <p:spPr>
          <a:xfrm>
            <a:off x="777240" y="4069080"/>
            <a:ext cx="10789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Mechanical interpretation: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k says how aggressively the visible penetration grows after onset.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t0 says when the plume becomes visible after hydraulic delay correction.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s says how sharply the plume turns on. Very large or nonphysical values are rejected.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Quality Gates Keep The Exported Curves Conservative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4008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0467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2,010</a:t>
            </a:r>
            <a:endParaRPr lang="en-US" sz="2300"/>
          </a:p>
        </p:txBody>
      </p:sp>
      <p:sp>
        <p:nvSpPr>
          <p:cNvPr id="8" name="Text 8"/>
          <p:cNvSpPr txBox="1"/>
          <p:nvPr/>
        </p:nvSpPr>
        <p:spPr>
          <a:xfrm>
            <a:off x="80467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flagged CDF fits</a:t>
            </a:r>
            <a:endParaRPr lang="en-US" sz="1000"/>
          </a:p>
        </p:txBody>
      </p:sp>
      <p:sp>
        <p:nvSpPr>
          <p:cNvPr id="9" name="Box 9"/>
          <p:cNvSpPr txBox="1"/>
          <p:nvPr/>
        </p:nvSpPr>
        <p:spPr>
          <a:xfrm>
            <a:off x="306324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22783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91.3%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322783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survival rate</a:t>
            </a:r>
            <a:endParaRPr lang="en-US" sz="1000"/>
          </a:p>
        </p:txBody>
      </p:sp>
      <p:sp>
        <p:nvSpPr>
          <p:cNvPr id="12" name="Box 12"/>
          <p:cNvSpPr txBox="1"/>
          <p:nvPr/>
        </p:nvSpPr>
        <p:spPr>
          <a:xfrm>
            <a:off x="548640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65099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0.76-1.80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65099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middle 50% RMSE [mm]</a:t>
            </a:r>
            <a:endParaRPr lang="en-US" sz="1000"/>
          </a:p>
        </p:txBody>
      </p:sp>
      <p:sp>
        <p:nvSpPr>
          <p:cNvPr id="15" name="Box 15"/>
          <p:cNvSpPr txBox="1"/>
          <p:nvPr/>
        </p:nvSpPr>
        <p:spPr>
          <a:xfrm>
            <a:off x="790956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07415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517,529</a:t>
            </a:r>
            <a:endParaRPr lang="en-US" sz="2300"/>
          </a:p>
        </p:txBody>
      </p:sp>
      <p:sp>
        <p:nvSpPr>
          <p:cNvPr id="17" name="Text 17"/>
          <p:cNvSpPr txBox="1"/>
          <p:nvPr/>
        </p:nvSpPr>
        <p:spPr>
          <a:xfrm>
            <a:off x="807415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per-frame points</a:t>
            </a:r>
            <a:endParaRPr lang="en-US" sz="1000"/>
          </a:p>
        </p:txBody>
      </p:sp>
      <p:sp>
        <p:nvSpPr>
          <p:cNvPr id="18" name="Text 18"/>
          <p:cNvSpPr txBox="1"/>
          <p:nvPr/>
        </p:nvSpPr>
        <p:spPr>
          <a:xfrm>
            <a:off x="685800" y="2331720"/>
            <a:ext cx="5257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Most rejected fits are statistical outliers: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robust outlier: 2,000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basic gate failed: 30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- 5 ms penetration out of range: 29</a:t>
            </a:r>
            <a:endParaRPr lang="en-US" sz="1600"/>
          </a:p>
        </p:txBody>
      </p:sp>
      <p:sp>
        <p:nvSpPr>
          <p:cNvPr id="19" name="Text 19"/>
          <p:cNvSpPr txBox="1"/>
          <p:nvPr/>
        </p:nvSpPr>
        <p:spPr>
          <a:xfrm>
            <a:off x="6263640" y="2331720"/>
            <a:ext cx="5257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Hard plausibility checks include: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solver success and finite RMSE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at least 10 valid points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- 0 &lt; t0 &lt; measured time range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s &lt; 1 ms and t0 &lt; 0.8 ms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penetration at 5 ms between 18 and 300 mm</a:t>
            </a:r>
            <a:endParaRPr lang="en-US" sz="1500"/>
          </a:p>
        </p:txBody>
      </p:sp>
      <p:sp>
        <p:nvSpPr>
          <p:cNvPr id="20" name="Box 20"/>
          <p:cNvSpPr txBox="1"/>
          <p:nvPr/>
        </p:nvSpPr>
        <p:spPr>
          <a:xfrm>
            <a:off x="685800" y="4617720"/>
            <a:ext cx="10789920" cy="685800"/>
          </a:xfrm>
          <a:prstGeom prst="rect">
            <a:avLst/>
          </a:prstGeom>
          <a:solidFill>
            <a:srgbClr val="ECFDF5"/>
          </a:solidFill>
          <a:ln w="8000">
            <a:solidFill>
              <a:srgbClr val="BBF7D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914400" y="4773168"/>
            <a:ext cx="10332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065F46"/>
                </a:solidFill>
                <a:latin typeface="Arial"/>
              </a:rPr>
              <a:t>Engineering read: the deck focuses on clean rows; flagged rows are kept separately for audit, not mixed into training-quality data.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Fit Error Across Operating Conditions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0" y="1002982"/>
            <a:ext cx="6126480" cy="421195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6812280" y="987552"/>
            <a:ext cx="4800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What to look for: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Lower values mean the fitted curve is closer to the measured plume.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Overall median RMSE is 1.25 mm; 95% are below 2.56 mm.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Error is not uniform: the pressure condition matters.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6812280" y="3063240"/>
            <a:ext cx="4754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b="1" dirty="0">
                <a:solidFill>
                  <a:srgbClr val="475569"/>
                </a:solidFill>
                <a:latin typeface="Arial"/>
              </a:rPr>
              <a:t>Lowest median-RMSE cells: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1600 bar, Pch 35.00 bar: 0.62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1400 bar, Pch 35.00 bar: 0.62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35.00 bar: 0.97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Highest median-RMSE cells: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5.00 bar: 1.80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15.00 bar: 1.62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1600 bar, Pch 5.00 bar: 1.51 mm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Per-Nozzle Fit Error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552328"/>
            <a:ext cx="6720840" cy="3479023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406640" y="914400"/>
            <a:ext cx="4297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Nozzle comparison: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Boxes summarize the spread of RMSE by nozzle.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The fitted model performs best when the curve shape is repeatable within the nozzle and condition.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406640" y="2331720"/>
            <a:ext cx="42976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100" b="1" dirty="0">
                <a:solidFill>
                  <a:srgbClr val="475569"/>
                </a:solidFill>
                <a:latin typeface="Arial"/>
              </a:rPr>
              <a:t>Median RMSE by nozzle: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Nozzle7: 0.94 mm, p95 1.84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Nozzle3: 1.07 mm, p95 2.11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Nozzle4: 1.16 mm, p95 2.40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Nozzle5: 1.16 mm, p95 2.33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Nozzle2: 1.24 mm, p95 2.37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Nozzle0: 1.27 mm, p95 2.65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Nozzle1: 1.34 mm, p95 2.34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Nozzle6: 1.35 mm, p95 2.53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Nozzle8: 1.40 mm, p95 2.46 mm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Do The Parameters Move Like Physics Suggests?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" y="1409139"/>
            <a:ext cx="7498080" cy="327162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046720" y="960120"/>
            <a:ext cx="3794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Most important result: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k scales as DeltaP^0.53, rho_air^-0.24, diameter^0.48.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Signs match the expected trend: higher pressure drop and larger holes increase penetration; higher chamber density reduces it.</a:t>
            </a:r>
            <a:endParaRPr lang="en-US" sz="1300"/>
          </a:p>
        </p:txBody>
      </p:sp>
      <p:sp>
        <p:nvSpPr>
          <p:cNvPr id="8" name="Text 8"/>
          <p:cNvSpPr txBox="1"/>
          <p:nvPr/>
        </p:nvSpPr>
        <p:spPr>
          <a:xfrm>
            <a:off x="8046720" y="2880360"/>
            <a:ext cx="37947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Caution: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Simple pressure-density-diameter scaling explains only R2 = 0.33 for k.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t0 and s have lower R2, so onset and transition width also depend on imaging, plume interaction, and cleaning details.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Residuals Show Where The Curve Is Biased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923275"/>
            <a:ext cx="6400800" cy="481942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178040" y="914400"/>
            <a:ext cx="44805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400" b="1" dirty="0">
                <a:solidFill>
                  <a:srgbClr val="334155"/>
                </a:solidFill>
                <a:latin typeface="Arial"/>
              </a:rPr>
              <a:t>Residual = fitted penetration - measured penetration.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At 0.05 ms: median residual 1.74 mm.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Around 0.95 ms: median residual 0.07 mm.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At 1.55 ms: median residual -1.64 mm, but only 170 points.</a:t>
            </a:r>
            <a:endParaRPr lang="en-US" sz="1400"/>
          </a:p>
        </p:txBody>
      </p:sp>
      <p:sp>
        <p:nvSpPr>
          <p:cNvPr id="8" name="Text 8"/>
          <p:cNvSpPr txBox="1"/>
          <p:nvPr/>
        </p:nvSpPr>
        <p:spPr>
          <a:xfrm>
            <a:off x="7178040" y="3291840"/>
            <a:ext cx="4480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Engineering read: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The curve is close to unbiased after the initial transient.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Early time is the hardest region because onset timing and image thresholding dominate.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Late-time bins have low sample count, so do not over-interpret the tail.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The Solver Is Not The Bottleneck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006405"/>
            <a:ext cx="7315200" cy="225083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001000" y="1051560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Termination summary: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ftol_satisfied: 20,937 fits, median nfev 40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ftol_and_xtol_satisfied: 60 fits, median nfev 42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gtol_satisfied: 1 fits, median nfev 27</a:t>
            </a:r>
            <a:endParaRPr lang="en-US" sz="1300"/>
          </a:p>
        </p:txBody>
      </p:sp>
      <p:sp>
        <p:nvSpPr>
          <p:cNvPr id="8" name="Box 8"/>
          <p:cNvSpPr txBox="1"/>
          <p:nvPr/>
        </p:nvSpPr>
        <p:spPr>
          <a:xfrm>
            <a:off x="8001000" y="3429000"/>
            <a:ext cx="3657600" cy="914400"/>
          </a:xfrm>
          <a:prstGeom prst="rect">
            <a:avLst/>
          </a:prstGeom>
          <a:solidFill>
            <a:srgbClr val="ECFDF5"/>
          </a:solidFill>
          <a:ln w="8000">
            <a:solidFill>
              <a:srgbClr val="BBF7D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8183880" y="356616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065F46"/>
                </a:solidFill>
                <a:latin typeface="Arial"/>
              </a:rPr>
              <a:t>No max-iteration failure appears in the clean-row summary. Most fits stop because further improvement in cost becomes tiny.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Parameter Identifiability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853449"/>
            <a:ext cx="7040880" cy="2693901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726680" y="987552"/>
            <a:ext cx="3977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What this means: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Typical log-space std: k 0.020, t0 0.032, s 0.069.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These are small enough that the fitted curves are stable.</a:t>
            </a:r>
            <a:endParaRPr lang="en-US" sz="1300"/>
          </a:p>
        </p:txBody>
      </p:sp>
      <p:sp>
        <p:nvSpPr>
          <p:cNvPr id="8" name="Text 8"/>
          <p:cNvSpPr txBox="1"/>
          <p:nvPr/>
        </p:nvSpPr>
        <p:spPr>
          <a:xfrm>
            <a:off x="7726680" y="3017520"/>
            <a:ext cx="39776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Important caveat: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k, t0, and s are correlated, especially k with s.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Use the full fitted curve for engineering comparison. Avoid over-interpreting a single parameter by itself.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How To Use These Results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731520" y="10058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Use clean fits for: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generating synthetic penetration trajectories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training downstream MLP models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comparing conditions with a compact curve representation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estimating time-dependent residual spread</a:t>
            </a:r>
            <a:endParaRPr lang="en-US" sz="1700"/>
          </a:p>
        </p:txBody>
      </p:sp>
      <p:sp>
        <p:nvSpPr>
          <p:cNvPr id="7" name="Text 7"/>
          <p:cNvSpPr txBox="1"/>
          <p:nvPr/>
        </p:nvSpPr>
        <p:spPr>
          <a:xfrm>
            <a:off x="6355080" y="1005840"/>
            <a:ext cx="5166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Do not use them blindly for: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diagnosing individual failed plumes without checking flagged plots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claiming t0 or s are pure physical delays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extrapolating after the measured time range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treating late residual bins with low counts as final truth</a:t>
            </a:r>
            <a:endParaRPr lang="en-US" sz="1700"/>
          </a:p>
        </p:txBody>
      </p:sp>
      <p:sp>
        <p:nvSpPr>
          <p:cNvPr id="8" name="Box 8"/>
          <p:cNvSpPr txBox="1"/>
          <p:nvPr/>
        </p:nvSpPr>
        <p:spPr>
          <a:xfrm>
            <a:off x="731520" y="3749040"/>
            <a:ext cx="10789920" cy="1097280"/>
          </a:xfrm>
          <a:prstGeom prst="rect">
            <a:avLst/>
          </a:prstGeom>
          <a:solidFill>
            <a:srgbClr val="FEFCE8"/>
          </a:solidFill>
          <a:ln w="8000">
            <a:solidFill>
              <a:srgbClr val="FDE68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960120" y="3913632"/>
            <a:ext cx="10241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854D0E"/>
                </a:solidFill>
                <a:latin typeface="Arial"/>
              </a:rPr>
              <a:t>Recommended next checks: inspect the highest-RMSE conditions, tighten early-onset alignment if needed, and report RMSE plus residual sigma(t) when using synthetic data.</a:t>
            </a:r>
            <a:endParaRPr lang="en-US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File And Code Map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731520" y="914400"/>
            <a:ext cx="1069848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Primary fitting code: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MLP/curve_fit/fit_raw_data.py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Model: spray_penetration_model_quarter_only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Fit: fit_quarter_only uses scipy least_squares with Huber loss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Filtering: apply_filter_masking creates clean and flagged rows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End of script: summarize_dataset, summarize_filter_survival, fit_diagnostics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/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Diagnostics used in this deck: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MLP/synthetic_data/fit_diagnostics/error_by_condition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MLP/synthetic_data/fit_diagnostics/param_distributions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MLP/synthetic_data/fit_diagnostics/residual_structure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MLP/synthetic_data/fit_diagnostics/convergence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MLP/synthetic_data/fit_diagnostics/identifiability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Bottom Line For Review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85800" y="960120"/>
            <a:ext cx="10972800" cy="914400"/>
          </a:xfrm>
          <a:prstGeom prst="rect">
            <a:avLst/>
          </a:prstGeom>
          <a:solidFill>
            <a:srgbClr val="EFF6FF"/>
          </a:solidFill>
          <a:ln w="8000">
            <a:solidFill>
              <a:srgbClr val="BFDBFE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1115568"/>
            <a:ext cx="10469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Accepted q1 fits are accurate enough for the intended surrogate-data role: median error 1.25 mm, p95 2.56 mm, and 91.3% of CDF candidates survive cleaning.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868680" y="2377440"/>
            <a:ext cx="105156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334155"/>
                </a:solidFill>
                <a:latin typeface="Arial"/>
              </a:rPr>
              <a:t>Decision points: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Green light for using clean q1 CDF rows as compact synthetic data.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Keep flagged rows out of training unless manually reviewed.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If early-time accuracy matters most, improve onset alignment before changing the curve law.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If individual parameter interpretation matters, add a parameter-correlation caveat to reports.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1F2937"/>
      </a:dk1>
      <a:lt1>
        <a:srgbClr val="FFFFFF"/>
      </a:lt1>
      <a:dk2>
        <a:srgbClr val="334155"/>
      </a:dk2>
      <a:lt2>
        <a:srgbClr val="F3F6FA"/>
      </a:lt2>
      <a:accent1>
        <a:srgbClr val="2563EB"/>
      </a:accent1>
      <a:accent2>
        <a:srgbClr val="DC2626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standard-library PPTX writer</Application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Fit Diagnostics for Spray Penetration</dc:title>
  <dc:creator>Mie Spray Postprocessing Project</dc:creator>
  <cp:lastModifiedBy>Codex</cp:lastModifiedBy>
  <dcterms:created xsi:type="dcterms:W3CDTF">2026-05-08T08:10:50Z</dcterms:created>
  <dcterms:modified xsi:type="dcterms:W3CDTF">2026-05-08T08:10:50Z</dcterms:modified>
</cp:coreProperties>
</file>